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0" d="100"/>
          <a:sy n="80" d="100"/>
        </p:scale>
        <p:origin x="782"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en-US"/>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986516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3769777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2087775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של תאריך 4"/>
          <p:cNvSpPr>
            <a:spLocks noGrp="1"/>
          </p:cNvSpPr>
          <p:nvPr>
            <p:ph type="dt" sz="half" idx="10"/>
          </p:nvPr>
        </p:nvSpPr>
        <p:spPr/>
        <p:txBody>
          <a:bodyPr/>
          <a:lstStyle/>
          <a:p>
            <a:fld id="{AE5C9C2C-D644-45BC-860D-8FAF69804BDE}" type="datetimeFigureOut">
              <a:rPr lang="en-US" smtClean="0"/>
              <a:t>1/23/2026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1035688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7" name="מציין מיקום של תאריך 6"/>
          <p:cNvSpPr>
            <a:spLocks noGrp="1"/>
          </p:cNvSpPr>
          <p:nvPr>
            <p:ph type="dt" sz="half" idx="10"/>
          </p:nvPr>
        </p:nvSpPr>
        <p:spPr/>
        <p:txBody>
          <a:bodyPr/>
          <a:lstStyle/>
          <a:p>
            <a:fld id="{AE5C9C2C-D644-45BC-860D-8FAF69804BDE}" type="datetimeFigureOut">
              <a:rPr lang="en-US" smtClean="0"/>
              <a:t>1/23/2026</a:t>
            </a:fld>
            <a:endParaRPr lang="en-US"/>
          </a:p>
        </p:txBody>
      </p:sp>
      <p:sp>
        <p:nvSpPr>
          <p:cNvPr id="8" name="מציין מיקום של כותרת תחתונה 7"/>
          <p:cNvSpPr>
            <a:spLocks noGrp="1"/>
          </p:cNvSpPr>
          <p:nvPr>
            <p:ph type="ftr" sz="quarter" idx="11"/>
          </p:nvPr>
        </p:nvSpPr>
        <p:spPr/>
        <p:txBody>
          <a:bodyPr/>
          <a:lstStyle/>
          <a:p>
            <a:endParaRPr lang="en-US"/>
          </a:p>
        </p:txBody>
      </p:sp>
      <p:sp>
        <p:nvSpPr>
          <p:cNvPr id="9" name="מציין מיקום של מספר שקופית 8"/>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998913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תאריך 2"/>
          <p:cNvSpPr>
            <a:spLocks noGrp="1"/>
          </p:cNvSpPr>
          <p:nvPr>
            <p:ph type="dt" sz="half" idx="10"/>
          </p:nvPr>
        </p:nvSpPr>
        <p:spPr/>
        <p:txBody>
          <a:bodyPr/>
          <a:lstStyle/>
          <a:p>
            <a:fld id="{AE5C9C2C-D644-45BC-860D-8FAF69804BDE}" type="datetimeFigureOut">
              <a:rPr lang="en-US" smtClean="0"/>
              <a:t>1/23/2026</a:t>
            </a:fld>
            <a:endParaRPr lang="en-US"/>
          </a:p>
        </p:txBody>
      </p:sp>
      <p:sp>
        <p:nvSpPr>
          <p:cNvPr id="4" name="מציין מיקום של כותרת תחתונה 3"/>
          <p:cNvSpPr>
            <a:spLocks noGrp="1"/>
          </p:cNvSpPr>
          <p:nvPr>
            <p:ph type="ftr" sz="quarter" idx="11"/>
          </p:nvPr>
        </p:nvSpPr>
        <p:spPr/>
        <p:txBody>
          <a:bodyPr/>
          <a:lstStyle/>
          <a:p>
            <a:endParaRPr lang="en-US"/>
          </a:p>
        </p:txBody>
      </p:sp>
      <p:sp>
        <p:nvSpPr>
          <p:cNvPr id="5" name="מציין מיקום של מספר שקופית 4"/>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471568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E5C9C2C-D644-45BC-860D-8FAF69804BDE}" type="datetimeFigureOut">
              <a:rPr lang="en-US" smtClean="0"/>
              <a:t>1/23/2026</a:t>
            </a:fld>
            <a:endParaRPr lang="en-US"/>
          </a:p>
        </p:txBody>
      </p:sp>
      <p:sp>
        <p:nvSpPr>
          <p:cNvPr id="3" name="מציין מיקום של כותרת תחתונה 2"/>
          <p:cNvSpPr>
            <a:spLocks noGrp="1"/>
          </p:cNvSpPr>
          <p:nvPr>
            <p:ph type="ftr" sz="quarter" idx="11"/>
          </p:nvPr>
        </p:nvSpPr>
        <p:spPr/>
        <p:txBody>
          <a:bodyPr/>
          <a:lstStyle/>
          <a:p>
            <a:endParaRPr lang="en-US"/>
          </a:p>
        </p:txBody>
      </p:sp>
      <p:sp>
        <p:nvSpPr>
          <p:cNvPr id="4" name="מציין מיקום של מספר שקופית 3"/>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680341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AE5C9C2C-D644-45BC-860D-8FAF69804BDE}" type="datetimeFigureOut">
              <a:rPr lang="en-US" smtClean="0"/>
              <a:t>1/23/2026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1275630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en-US"/>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AE5C9C2C-D644-45BC-860D-8FAF69804BDE}" type="datetimeFigureOut">
              <a:rPr lang="en-US" smtClean="0"/>
              <a:t>1/23/2026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110252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2109260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3945CC23-89C8-4BC8-96B2-8AF93A5B934F}" type="slidenum">
              <a:rPr lang="en-US" smtClean="0"/>
              <a:t>‹#›</a:t>
            </a:fld>
            <a:endParaRPr lang="en-US"/>
          </a:p>
        </p:txBody>
      </p:sp>
    </p:spTree>
    <p:extLst>
      <p:ext uri="{BB962C8B-B14F-4D97-AF65-F5344CB8AC3E}">
        <p14:creationId xmlns:p14="http://schemas.microsoft.com/office/powerpoint/2010/main" val="2125179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0" b="-120000"/>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5C9C2C-D644-45BC-860D-8FAF69804BDE}" type="datetimeFigureOut">
              <a:rPr lang="en-US" smtClean="0"/>
              <a:t>1/23/2026</a:t>
            </a:fld>
            <a:endParaRPr lang="en-US"/>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מציין מיקום של מספר שקופית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CC23-89C8-4BC8-96B2-8AF93A5B934F}" type="slidenum">
              <a:rPr lang="en-US" smtClean="0"/>
              <a:t>‹#›</a:t>
            </a:fld>
            <a:endParaRPr lang="en-US"/>
          </a:p>
        </p:txBody>
      </p:sp>
    </p:spTree>
    <p:extLst>
      <p:ext uri="{BB962C8B-B14F-4D97-AF65-F5344CB8AC3E}">
        <p14:creationId xmlns:p14="http://schemas.microsoft.com/office/powerpoint/2010/main" val="3704004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pic>
        <p:nvPicPr>
          <p:cNvPr id="6" name="תמונה 5"/>
          <p:cNvPicPr>
            <a:picLocks noChangeAspect="1"/>
          </p:cNvPicPr>
          <p:nvPr/>
        </p:nvPicPr>
        <p:blipFill>
          <a:blip r:embed="rId3"/>
          <a:stretch>
            <a:fillRect/>
          </a:stretch>
        </p:blipFill>
        <p:spPr>
          <a:xfrm>
            <a:off x="0" y="0"/>
            <a:ext cx="2880610" cy="533446"/>
          </a:xfrm>
          <a:prstGeom prst="rect">
            <a:avLst/>
          </a:prstGeom>
        </p:spPr>
      </p:pic>
      <p:sp>
        <p:nvSpPr>
          <p:cNvPr id="7" name="מלבן 6"/>
          <p:cNvSpPr/>
          <p:nvPr/>
        </p:nvSpPr>
        <p:spPr>
          <a:xfrm>
            <a:off x="0" y="518252"/>
            <a:ext cx="2847975" cy="1381125"/>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dirty="0">
                <a:effectLst/>
                <a:latin typeface="Arial" panose="020B0604020202020204" pitchFamily="34" charset="0"/>
                <a:ea typeface="Times New Roman" panose="02020603050405020304" pitchFamily="18" charset="0"/>
              </a:rPr>
              <a:t>Project Title:</a:t>
            </a:r>
            <a:r>
              <a:rPr lang="en-US" sz="900" dirty="0">
                <a:effectLst/>
                <a:latin typeface="Arial" panose="020B0604020202020204" pitchFamily="34" charset="0"/>
                <a:ea typeface="Times New Roman" panose="02020603050405020304" pitchFamily="18" charset="0"/>
              </a:rPr>
              <a:t/>
            </a:r>
            <a:br>
              <a:rPr lang="en-US" sz="900" dirty="0">
                <a:effectLst/>
                <a:latin typeface="Arial" panose="020B0604020202020204" pitchFamily="34" charset="0"/>
                <a:ea typeface="Times New Roman" panose="02020603050405020304" pitchFamily="18" charset="0"/>
              </a:rPr>
            </a:br>
            <a:r>
              <a:rPr lang="en-US" sz="900" b="1" dirty="0">
                <a:effectLst/>
                <a:latin typeface="Arial" panose="020B0604020202020204" pitchFamily="34" charset="0"/>
                <a:ea typeface="Times New Roman" panose="02020603050405020304" pitchFamily="18" charset="0"/>
              </a:rPr>
              <a:t>Improving the Accuracy and Specificity of Weather Forecasts Using Landsat 8 Infrared Satellite Images</a:t>
            </a:r>
            <a:endParaRPr lang="en-US" sz="1200" dirty="0">
              <a:effectLst/>
              <a:latin typeface="Times New Roman" panose="02020603050405020304" pitchFamily="18" charset="0"/>
              <a:ea typeface="Times New Roman" panose="02020603050405020304" pitchFamily="18" charset="0"/>
            </a:endParaRPr>
          </a:p>
          <a:p>
            <a:r>
              <a:rPr lang="en-US" sz="900" b="1" dirty="0">
                <a:effectLst/>
                <a:latin typeface="Arial" panose="020B0604020202020204" pitchFamily="34" charset="0"/>
                <a:ea typeface="Times New Roman" panose="02020603050405020304" pitchFamily="18" charset="0"/>
              </a:rPr>
              <a:t>Team Code:</a:t>
            </a:r>
            <a:r>
              <a:rPr lang="en-US" sz="900" dirty="0">
                <a:effectLst/>
                <a:latin typeface="Arial" panose="020B0604020202020204" pitchFamily="34" charset="0"/>
                <a:ea typeface="Times New Roman" panose="02020603050405020304" pitchFamily="18" charset="0"/>
              </a:rPr>
              <a:t> 25-2-D-33</a:t>
            </a:r>
            <a:br>
              <a:rPr lang="en-US" sz="900" dirty="0">
                <a:effectLst/>
                <a:latin typeface="Arial" panose="020B0604020202020204" pitchFamily="34" charset="0"/>
                <a:ea typeface="Times New Roman" panose="02020603050405020304" pitchFamily="18" charset="0"/>
              </a:rPr>
            </a:br>
            <a:r>
              <a:rPr lang="en-US" sz="900" b="1" dirty="0">
                <a:effectLst/>
                <a:latin typeface="Arial" panose="020B0604020202020204" pitchFamily="34" charset="0"/>
                <a:ea typeface="Times New Roman" panose="02020603050405020304" pitchFamily="18" charset="0"/>
              </a:rPr>
              <a:t>Students:</a:t>
            </a:r>
            <a:r>
              <a:rPr lang="en-US" sz="900" dirty="0">
                <a:effectLst/>
                <a:latin typeface="Arial" panose="020B0604020202020204" pitchFamily="34" charset="0"/>
                <a:ea typeface="Times New Roman" panose="02020603050405020304" pitchFamily="18" charset="0"/>
              </a:rPr>
              <a:t> Mohamad Khateeb, George Ishak</a:t>
            </a:r>
            <a:br>
              <a:rPr lang="en-US" sz="900" dirty="0">
                <a:effectLst/>
                <a:latin typeface="Arial" panose="020B0604020202020204" pitchFamily="34" charset="0"/>
                <a:ea typeface="Times New Roman" panose="02020603050405020304" pitchFamily="18" charset="0"/>
              </a:rPr>
            </a:br>
            <a:r>
              <a:rPr lang="en-US" sz="900" b="1" dirty="0">
                <a:effectLst/>
                <a:latin typeface="Arial" panose="020B0604020202020204" pitchFamily="34" charset="0"/>
                <a:ea typeface="Times New Roman" panose="02020603050405020304" pitchFamily="18" charset="0"/>
              </a:rPr>
              <a:t>Supervisor:</a:t>
            </a:r>
            <a:r>
              <a:rPr lang="en-US" sz="900" dirty="0">
                <a:effectLst/>
                <a:latin typeface="Arial" panose="020B0604020202020204" pitchFamily="34" charset="0"/>
                <a:ea typeface="Times New Roman" panose="02020603050405020304" pitchFamily="18" charset="0"/>
              </a:rPr>
              <a:t> Zakharia Frenkel</a:t>
            </a:r>
            <a:br>
              <a:rPr lang="en-US" sz="900" dirty="0">
                <a:effectLst/>
                <a:latin typeface="Arial" panose="020B0604020202020204" pitchFamily="34" charset="0"/>
                <a:ea typeface="Times New Roman" panose="02020603050405020304" pitchFamily="18" charset="0"/>
              </a:rPr>
            </a:br>
            <a:r>
              <a:rPr lang="en-US" sz="900" b="1" dirty="0">
                <a:effectLst/>
                <a:latin typeface="Arial" panose="020B0604020202020204" pitchFamily="34" charset="0"/>
                <a:ea typeface="Times New Roman" panose="02020603050405020304" pitchFamily="18" charset="0"/>
              </a:rPr>
              <a:t>Institution:</a:t>
            </a:r>
            <a:r>
              <a:rPr lang="en-US" sz="900" dirty="0">
                <a:effectLst/>
                <a:latin typeface="Arial" panose="020B0604020202020204" pitchFamily="34" charset="0"/>
                <a:ea typeface="Times New Roman" panose="02020603050405020304" pitchFamily="18" charset="0"/>
              </a:rPr>
              <a:t> </a:t>
            </a:r>
            <a:r>
              <a:rPr lang="en-US" sz="900" dirty="0" smtClean="0">
                <a:effectLst/>
                <a:latin typeface="Arial" panose="020B0604020202020204" pitchFamily="34" charset="0"/>
                <a:ea typeface="Times New Roman" panose="02020603050405020304" pitchFamily="18" charset="0"/>
              </a:rPr>
              <a:t>Braude </a:t>
            </a:r>
            <a:r>
              <a:rPr lang="en-US" sz="900" dirty="0">
                <a:effectLst/>
                <a:latin typeface="Arial" panose="020B0604020202020204" pitchFamily="34" charset="0"/>
                <a:ea typeface="Times New Roman" panose="02020603050405020304" pitchFamily="18" charset="0"/>
              </a:rPr>
              <a:t>College of Engineering, Karmiel</a:t>
            </a:r>
            <a:endParaRPr lang="en-US" sz="12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dirty="0">
                <a:effectLst/>
                <a:latin typeface="Arial" panose="020B0604020202020204" pitchFamily="34" charset="0"/>
                <a:ea typeface="Calibri" panose="020F0502020204030204" pitchFamily="34"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p:txBody>
      </p:sp>
      <p:sp>
        <p:nvSpPr>
          <p:cNvPr id="8" name="מלבן 7"/>
          <p:cNvSpPr/>
          <p:nvPr/>
        </p:nvSpPr>
        <p:spPr>
          <a:xfrm>
            <a:off x="0" y="1899377"/>
            <a:ext cx="6324600" cy="1264920"/>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cs typeface="Arial" panose="020B0604020202020204" pitchFamily="34" charset="0"/>
              </a:rPr>
              <a:t> 1. ABSTRACT</a:t>
            </a:r>
            <a:endParaRPr lang="en-US" sz="1100" dirty="0">
              <a:effectLst/>
              <a:ea typeface="Calibri" panose="020F0502020204030204" pitchFamily="34" charset="0"/>
              <a:cs typeface="Arial" panose="020B0604020202020204" pitchFamily="34" charset="0"/>
            </a:endParaRPr>
          </a:p>
          <a:p>
            <a:pPr>
              <a:lnSpc>
                <a:spcPct val="107000"/>
              </a:lnSpc>
              <a:spcAft>
                <a:spcPts val="800"/>
              </a:spcAft>
            </a:pPr>
            <a:r>
              <a:rPr lang="en-US" sz="900" dirty="0">
                <a:effectLst/>
                <a:latin typeface="Arial" panose="020B0604020202020204" pitchFamily="34" charset="0"/>
                <a:ea typeface="Times New Roman" panose="02020603050405020304" pitchFamily="18" charset="0"/>
                <a:cs typeface="Arial" panose="020B0604020202020204" pitchFamily="34" charset="0"/>
              </a:rPr>
              <a:t>Rapid urbanization increases local temperatures via the Urban Heat Island (UHI) effect. Most forecasting systems lack spatial specificity, failing to show how individual buildings, roads, or trees contribute to localized heat.</a:t>
            </a:r>
            <a:endParaRPr lang="en-US" sz="1100" dirty="0">
              <a:effectLst/>
              <a:ea typeface="Calibri" panose="020F0502020204030204" pitchFamily="34" charset="0"/>
              <a:cs typeface="Arial" panose="020B0604020202020204" pitchFamily="34" charset="0"/>
            </a:endParaRPr>
          </a:p>
          <a:p>
            <a:pPr>
              <a:lnSpc>
                <a:spcPct val="107000"/>
              </a:lnSpc>
              <a:spcAft>
                <a:spcPts val="800"/>
              </a:spcAft>
            </a:pPr>
            <a:r>
              <a:rPr lang="en-US" sz="900" dirty="0">
                <a:effectLst/>
                <a:latin typeface="Arial" panose="020B0604020202020204" pitchFamily="34" charset="0"/>
                <a:ea typeface="Times New Roman" panose="02020603050405020304" pitchFamily="18" charset="0"/>
                <a:cs typeface="Arial" panose="020B0604020202020204" pitchFamily="34" charset="0"/>
              </a:rPr>
              <a:t>Our project solves this by building an object-level analysis system that uses </a:t>
            </a:r>
            <a:r>
              <a:rPr lang="en-US" sz="900" b="1" dirty="0">
                <a:effectLst/>
                <a:latin typeface="Arial" panose="020B0604020202020204" pitchFamily="34" charset="0"/>
                <a:ea typeface="Times New Roman" panose="02020603050405020304" pitchFamily="18" charset="0"/>
                <a:cs typeface="Arial" panose="020B0604020202020204" pitchFamily="34" charset="0"/>
              </a:rPr>
              <a:t>Landsat 8 infrared imagery</a:t>
            </a:r>
            <a:r>
              <a:rPr lang="en-US" sz="900" dirty="0">
                <a:effectLst/>
                <a:latin typeface="Arial" panose="020B0604020202020204" pitchFamily="34" charset="0"/>
                <a:ea typeface="Times New Roman" panose="02020603050405020304" pitchFamily="18" charset="0"/>
                <a:cs typeface="Arial" panose="020B0604020202020204" pitchFamily="34" charset="0"/>
              </a:rPr>
              <a:t> and </a:t>
            </a:r>
            <a:r>
              <a:rPr lang="en-US" sz="900" b="1" dirty="0">
                <a:effectLst/>
                <a:latin typeface="Arial" panose="020B0604020202020204" pitchFamily="34" charset="0"/>
                <a:ea typeface="Times New Roman" panose="02020603050405020304" pitchFamily="18" charset="0"/>
                <a:cs typeface="Arial" panose="020B0604020202020204" pitchFamily="34" charset="0"/>
              </a:rPr>
              <a:t>semantic segmentation (SegFormer)</a:t>
            </a:r>
            <a:r>
              <a:rPr lang="en-US" sz="900" dirty="0">
                <a:effectLst/>
                <a:latin typeface="Arial" panose="020B0604020202020204" pitchFamily="34" charset="0"/>
                <a:ea typeface="Times New Roman" panose="02020603050405020304" pitchFamily="18" charset="0"/>
                <a:cs typeface="Arial" panose="020B0604020202020204" pitchFamily="34" charset="0"/>
              </a:rPr>
              <a:t> to measure surface temperature per object (e.g., buildings, roads, vegetation). The system outputs interpretable temperature maps and statistics, enabling better urban planning and climate analysis</a:t>
            </a:r>
            <a:r>
              <a:rPr lang="en-US" sz="900" dirty="0" smtClean="0">
                <a:effectLst/>
                <a:latin typeface="Arial" panose="020B0604020202020204" pitchFamily="34" charset="0"/>
                <a:ea typeface="Times New Roman" panose="02020603050405020304" pitchFamily="18" charset="0"/>
                <a:cs typeface="Arial" panose="020B0604020202020204" pitchFamily="34" charset="0"/>
              </a:rPr>
              <a:t>.</a:t>
            </a:r>
            <a:endParaRPr lang="en-US" sz="1100" dirty="0">
              <a:effectLst/>
              <a:ea typeface="Calibri" panose="020F0502020204030204" pitchFamily="34" charset="0"/>
              <a:cs typeface="Arial" panose="020B0604020202020204" pitchFamily="34" charset="0"/>
            </a:endParaRPr>
          </a:p>
        </p:txBody>
      </p:sp>
      <p:sp>
        <p:nvSpPr>
          <p:cNvPr id="9" name="מלבן 8"/>
          <p:cNvSpPr/>
          <p:nvPr/>
        </p:nvSpPr>
        <p:spPr>
          <a:xfrm>
            <a:off x="0" y="3164297"/>
            <a:ext cx="6324600" cy="920023"/>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rPr>
              <a:t> 2. BACKGROUND &amp; PROBLEM</a:t>
            </a:r>
            <a:endParaRPr lang="en-US" sz="1350" b="1"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Traditional weather forecasts are </a:t>
            </a:r>
            <a:r>
              <a:rPr lang="en-US" sz="900" b="1" dirty="0">
                <a:effectLst/>
                <a:latin typeface="Arial" panose="020B0604020202020204" pitchFamily="34" charset="0"/>
                <a:ea typeface="Times New Roman" panose="02020603050405020304" pitchFamily="18" charset="0"/>
              </a:rPr>
              <a:t>region-based</a:t>
            </a:r>
            <a:r>
              <a:rPr lang="en-US" sz="900" dirty="0">
                <a:effectLst/>
                <a:latin typeface="Arial" panose="020B0604020202020204" pitchFamily="34" charset="0"/>
                <a:ea typeface="Times New Roman" panose="02020603050405020304" pitchFamily="18" charset="0"/>
              </a:rPr>
              <a:t>, lacking detail.</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Urban planners need </a:t>
            </a:r>
            <a:r>
              <a:rPr lang="en-US" sz="900" b="1" dirty="0">
                <a:effectLst/>
                <a:latin typeface="Arial" panose="020B0604020202020204" pitchFamily="34" charset="0"/>
                <a:ea typeface="Times New Roman" panose="02020603050405020304" pitchFamily="18" charset="0"/>
              </a:rPr>
              <a:t>object-level</a:t>
            </a:r>
            <a:r>
              <a:rPr lang="en-US" sz="900" dirty="0">
                <a:effectLst/>
                <a:latin typeface="Arial" panose="020B0604020202020204" pitchFamily="34" charset="0"/>
                <a:ea typeface="Times New Roman" panose="02020603050405020304" pitchFamily="18" charset="0"/>
              </a:rPr>
              <a:t> temperature info to identify heat sources.</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Existing satellite tools don’t link surface types to heat output.</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Objective: </a:t>
            </a:r>
            <a:r>
              <a:rPr lang="en-US" sz="900" b="1" dirty="0">
                <a:effectLst/>
                <a:latin typeface="Arial" panose="020B0604020202020204" pitchFamily="34" charset="0"/>
                <a:ea typeface="Times New Roman" panose="02020603050405020304" pitchFamily="18" charset="0"/>
              </a:rPr>
              <a:t>Map temperature by object (building, road, vegetation, water)</a:t>
            </a:r>
            <a:r>
              <a:rPr lang="en-US" sz="900" dirty="0">
                <a:effectLst/>
                <a:latin typeface="Arial" panose="020B0604020202020204" pitchFamily="34" charset="0"/>
                <a:ea typeface="Times New Roman" panose="02020603050405020304" pitchFamily="18" charset="0"/>
              </a:rPr>
              <a:t> using </a:t>
            </a:r>
            <a:r>
              <a:rPr lang="en-US" sz="900" b="1" dirty="0">
                <a:effectLst/>
                <a:latin typeface="Arial" panose="020B0604020202020204" pitchFamily="34" charset="0"/>
                <a:ea typeface="Times New Roman" panose="02020603050405020304" pitchFamily="18" charset="0"/>
              </a:rPr>
              <a:t>Landsat 8</a:t>
            </a:r>
            <a:r>
              <a:rPr lang="en-US" sz="900" dirty="0">
                <a:effectLst/>
                <a:latin typeface="Arial" panose="020B0604020202020204" pitchFamily="34" charset="0"/>
                <a:ea typeface="Times New Roman" panose="02020603050405020304" pitchFamily="18" charset="0"/>
              </a:rPr>
              <a:t> + </a:t>
            </a:r>
            <a:r>
              <a:rPr lang="en-US" sz="900" b="1" dirty="0">
                <a:effectLst/>
                <a:latin typeface="Arial" panose="020B0604020202020204" pitchFamily="34" charset="0"/>
                <a:ea typeface="Times New Roman" panose="02020603050405020304" pitchFamily="18" charset="0"/>
              </a:rPr>
              <a:t>deep learning</a:t>
            </a:r>
            <a:r>
              <a:rPr lang="en-US" sz="900" dirty="0" smtClean="0">
                <a:effectLst/>
                <a:latin typeface="Arial" panose="020B0604020202020204" pitchFamily="34" charset="0"/>
                <a:ea typeface="Times New Roman" panose="02020603050405020304" pitchFamily="18" charset="0"/>
              </a:rPr>
              <a:t>.</a:t>
            </a:r>
            <a:endParaRPr lang="en-US" sz="1200" dirty="0">
              <a:effectLst/>
              <a:latin typeface="Times New Roman" panose="02020603050405020304" pitchFamily="18" charset="0"/>
              <a:ea typeface="Times New Roman" panose="02020603050405020304" pitchFamily="18" charset="0"/>
            </a:endParaRPr>
          </a:p>
        </p:txBody>
      </p:sp>
      <p:sp>
        <p:nvSpPr>
          <p:cNvPr id="10" name="מלבן 9"/>
          <p:cNvSpPr/>
          <p:nvPr/>
        </p:nvSpPr>
        <p:spPr>
          <a:xfrm>
            <a:off x="0" y="4084320"/>
            <a:ext cx="2255520" cy="1158240"/>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rPr>
              <a:t> 3. SYSTEM OVERVIEW</a:t>
            </a:r>
            <a:endParaRPr lang="en-US" sz="1350" b="1" dirty="0">
              <a:effectLst/>
              <a:latin typeface="Times New Roman" panose="02020603050405020304" pitchFamily="18" charset="0"/>
              <a:ea typeface="Times New Roman" panose="02020603050405020304" pitchFamily="18" charset="0"/>
            </a:endParaRPr>
          </a:p>
          <a:p>
            <a:r>
              <a:rPr lang="en-US" sz="900" dirty="0">
                <a:effectLst/>
                <a:latin typeface="Arial" panose="020B0604020202020204" pitchFamily="34" charset="0"/>
                <a:ea typeface="Times New Roman" panose="02020603050405020304" pitchFamily="18" charset="0"/>
              </a:rPr>
              <a:t>A modular pipeline:</a:t>
            </a:r>
            <a:endParaRPr lang="en-US" sz="12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dirty="0">
                <a:effectLst/>
                <a:latin typeface="Arial" panose="020B0604020202020204" pitchFamily="34" charset="0"/>
                <a:ea typeface="Times New Roman" panose="02020603050405020304" pitchFamily="18" charset="0"/>
              </a:rPr>
              <a:t>Data Ingestion (RGB + TIR + metadata)</a:t>
            </a:r>
            <a:endParaRPr lang="en-US" sz="12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dirty="0">
                <a:effectLst/>
                <a:latin typeface="Arial" panose="020B0604020202020204" pitchFamily="34" charset="0"/>
                <a:ea typeface="Times New Roman" panose="02020603050405020304" pitchFamily="18" charset="0"/>
              </a:rPr>
              <a:t>Semantic Segmentation (SegFormer)</a:t>
            </a:r>
            <a:endParaRPr lang="en-US" sz="12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dirty="0">
                <a:effectLst/>
                <a:latin typeface="Arial" panose="020B0604020202020204" pitchFamily="34" charset="0"/>
                <a:ea typeface="Times New Roman" panose="02020603050405020304" pitchFamily="18" charset="0"/>
              </a:rPr>
              <a:t>Thermal Calibration (LST computation)</a:t>
            </a:r>
            <a:endParaRPr lang="en-US" sz="12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dirty="0">
                <a:effectLst/>
                <a:latin typeface="Arial" panose="020B0604020202020204" pitchFamily="34" charset="0"/>
                <a:ea typeface="Times New Roman" panose="02020603050405020304" pitchFamily="18" charset="0"/>
              </a:rPr>
              <a:t>Object-level fusion (temperature + area)</a:t>
            </a:r>
            <a:endParaRPr lang="en-US" sz="1200" dirty="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dirty="0">
                <a:effectLst/>
                <a:latin typeface="Arial" panose="020B0604020202020204" pitchFamily="34" charset="0"/>
                <a:ea typeface="Times New Roman" panose="02020603050405020304" pitchFamily="18" charset="0"/>
              </a:rPr>
              <a:t>Visual &amp; statistical </a:t>
            </a:r>
            <a:r>
              <a:rPr lang="en-US" sz="900" dirty="0" smtClean="0">
                <a:effectLst/>
                <a:latin typeface="Arial" panose="020B0604020202020204" pitchFamily="34" charset="0"/>
                <a:ea typeface="Times New Roman" panose="02020603050405020304" pitchFamily="18" charset="0"/>
              </a:rPr>
              <a:t>outputs</a:t>
            </a:r>
            <a:r>
              <a:rPr lang="en-US" sz="1100" dirty="0">
                <a:ea typeface="Calibri" panose="020F0502020204030204" pitchFamily="34" charset="0"/>
                <a:cs typeface="Arial" panose="020B0604020202020204" pitchFamily="34" charset="0"/>
              </a:rPr>
              <a:t>.</a:t>
            </a:r>
            <a:endParaRPr lang="en-US" sz="1200" dirty="0">
              <a:effectLst/>
              <a:latin typeface="Times New Roman" panose="02020603050405020304" pitchFamily="18" charset="0"/>
              <a:ea typeface="Times New Roman" panose="02020603050405020304" pitchFamily="18" charset="0"/>
            </a:endParaRPr>
          </a:p>
        </p:txBody>
      </p:sp>
      <p:sp>
        <p:nvSpPr>
          <p:cNvPr id="11" name="מלבן 10"/>
          <p:cNvSpPr/>
          <p:nvPr/>
        </p:nvSpPr>
        <p:spPr>
          <a:xfrm>
            <a:off x="0" y="5242560"/>
            <a:ext cx="2255520" cy="1615440"/>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rPr>
              <a:t> 4. TECHNOLOGIES USED</a:t>
            </a:r>
            <a:endParaRPr lang="en-US" sz="1350" b="1"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Landsat 8 (Band 10 for thermal)</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SegFormer transformer model (semantic segmentation)</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Python (NumPy, Rasterio, Matplotlib, Pandas)</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Google Earth Engine (data sourcing)</a:t>
            </a:r>
            <a:endParaRPr lang="en-US" sz="1200" dirty="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dirty="0">
                <a:effectLst/>
                <a:latin typeface="Arial" panose="020B0604020202020204" pitchFamily="34" charset="0"/>
                <a:ea typeface="Times New Roman" panose="02020603050405020304" pitchFamily="18" charset="0"/>
              </a:rPr>
              <a:t>CSV output for temperature by object type</a:t>
            </a:r>
            <a:endParaRPr lang="en-US" sz="12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dirty="0">
                <a:effectLst/>
                <a:latin typeface="Arial" panose="020B0604020202020204" pitchFamily="34" charset="0"/>
                <a:ea typeface="Calibri" panose="020F0502020204030204" pitchFamily="34"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p:txBody>
      </p:sp>
      <p:sp>
        <p:nvSpPr>
          <p:cNvPr id="12" name="מלבן 11"/>
          <p:cNvSpPr/>
          <p:nvPr/>
        </p:nvSpPr>
        <p:spPr>
          <a:xfrm>
            <a:off x="2255520" y="4084320"/>
            <a:ext cx="1409700" cy="2764063"/>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cs typeface="Arial" panose="020B0604020202020204" pitchFamily="34" charset="0"/>
              </a:rPr>
              <a:t> 5. ARCHITECTURE DIAGRAM </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RGB Image + Thermal Band + Metadata</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Semantic Segmentation (SegFormer)</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LST Computation (Radiance → BT → Emissivity → °C)</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Fusion: Object + Temperature + Area</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a:p>
            <a:pPr>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900" dirty="0">
                <a:effectLst/>
                <a:latin typeface="Arial" panose="020B0604020202020204" pitchFamily="34" charset="0"/>
                <a:ea typeface="Times New Roman" panose="02020603050405020304" pitchFamily="18" charset="0"/>
                <a:cs typeface="Arial" panose="020B0604020202020204" pitchFamily="34" charset="0"/>
              </a:rPr>
              <a:t>Outputs: Maps, Tables, Charts</a:t>
            </a:r>
            <a:endParaRPr lang="en-US" sz="1100" dirty="0">
              <a:effectLst/>
              <a:ea typeface="Calibri" panose="020F0502020204030204" pitchFamily="34" charset="0"/>
              <a:cs typeface="Arial" panose="020B0604020202020204" pitchFamily="34" charset="0"/>
            </a:endParaRPr>
          </a:p>
          <a:p>
            <a:pPr>
              <a:lnSpc>
                <a:spcPct val="107000"/>
              </a:lnSpc>
              <a:spcAft>
                <a:spcPts val="800"/>
              </a:spcAft>
            </a:pPr>
            <a:r>
              <a:rPr lang="en-US" sz="900" dirty="0">
                <a:effectLst/>
                <a:latin typeface="Arial" panose="020B0604020202020204" pitchFamily="34" charset="0"/>
                <a:ea typeface="Calibri" panose="020F0502020204030204" pitchFamily="34"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p:txBody>
      </p:sp>
      <p:pic>
        <p:nvPicPr>
          <p:cNvPr id="13" name="תמונה 12"/>
          <p:cNvPicPr/>
          <p:nvPr/>
        </p:nvPicPr>
        <p:blipFill>
          <a:blip r:embed="rId4">
            <a:extLst>
              <a:ext uri="{28A0092B-C50C-407E-A947-70E740481C1C}">
                <a14:useLocalDpi xmlns:a14="http://schemas.microsoft.com/office/drawing/2010/main" val="0"/>
              </a:ext>
            </a:extLst>
          </a:blip>
          <a:stretch>
            <a:fillRect/>
          </a:stretch>
        </p:blipFill>
        <p:spPr>
          <a:xfrm>
            <a:off x="3665220" y="4084321"/>
            <a:ext cx="1866900" cy="2773680"/>
          </a:xfrm>
          <a:prstGeom prst="rect">
            <a:avLst/>
          </a:prstGeom>
        </p:spPr>
      </p:pic>
      <p:pic>
        <p:nvPicPr>
          <p:cNvPr id="14" name="תמונה 13"/>
          <p:cNvPicPr/>
          <p:nvPr/>
        </p:nvPicPr>
        <p:blipFill>
          <a:blip r:embed="rId5" cstate="print">
            <a:extLst>
              <a:ext uri="{28A0092B-C50C-407E-A947-70E740481C1C}">
                <a14:useLocalDpi xmlns:a14="http://schemas.microsoft.com/office/drawing/2010/main" val="0"/>
              </a:ext>
            </a:extLst>
          </a:blip>
          <a:stretch>
            <a:fillRect/>
          </a:stretch>
        </p:blipFill>
        <p:spPr>
          <a:xfrm>
            <a:off x="5532121" y="4084320"/>
            <a:ext cx="2202180" cy="2764063"/>
          </a:xfrm>
          <a:prstGeom prst="rect">
            <a:avLst/>
          </a:prstGeom>
        </p:spPr>
      </p:pic>
      <p:pic>
        <p:nvPicPr>
          <p:cNvPr id="17" name="תמונה 16"/>
          <p:cNvPicPr>
            <a:picLocks noChangeAspect="1"/>
          </p:cNvPicPr>
          <p:nvPr/>
        </p:nvPicPr>
        <p:blipFill>
          <a:blip r:embed="rId6"/>
          <a:stretch>
            <a:fillRect/>
          </a:stretch>
        </p:blipFill>
        <p:spPr>
          <a:xfrm>
            <a:off x="6324600" y="1899376"/>
            <a:ext cx="2529840" cy="1275040"/>
          </a:xfrm>
          <a:prstGeom prst="rect">
            <a:avLst/>
          </a:prstGeom>
        </p:spPr>
      </p:pic>
      <p:sp>
        <p:nvSpPr>
          <p:cNvPr id="20" name="מלבן 19"/>
          <p:cNvSpPr/>
          <p:nvPr/>
        </p:nvSpPr>
        <p:spPr>
          <a:xfrm>
            <a:off x="7734300" y="4074702"/>
            <a:ext cx="1729740" cy="2783298"/>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900" b="1">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a:effectLst/>
                <a:latin typeface="Arial" panose="020B0604020202020204" pitchFamily="34" charset="0"/>
                <a:ea typeface="Times New Roman" panose="02020603050405020304" pitchFamily="18" charset="0"/>
                <a:cs typeface="Arial" panose="020B0604020202020204" pitchFamily="34" charset="0"/>
              </a:rPr>
              <a:t> 8. CHALLENGES &amp; SOLUTIONS</a:t>
            </a:r>
            <a:endParaRPr lang="en-US" sz="1100">
              <a:effectLst/>
              <a:ea typeface="Calibri" panose="020F0502020204030204" pitchFamily="34" charset="0"/>
              <a:cs typeface="Arial" panose="020B0604020202020204" pitchFamily="34" charset="0"/>
            </a:endParaRPr>
          </a:p>
          <a:p>
            <a:pPr algn="ctr">
              <a:lnSpc>
                <a:spcPct val="107000"/>
              </a:lnSpc>
              <a:spcAft>
                <a:spcPts val="0"/>
              </a:spcAft>
            </a:pPr>
            <a:r>
              <a:rPr lang="en-US" sz="900" b="1">
                <a:effectLst/>
                <a:latin typeface="Arial" panose="020B0604020202020204" pitchFamily="34" charset="0"/>
                <a:ea typeface="Times New Roman" panose="02020603050405020304" pitchFamily="18" charset="0"/>
                <a:cs typeface="Arial" panose="020B0604020202020204" pitchFamily="34" charset="0"/>
              </a:rPr>
              <a:t>Challenge</a:t>
            </a:r>
            <a:endParaRPr lang="en-US" sz="1100">
              <a:effectLst/>
              <a:ea typeface="Calibri" panose="020F0502020204030204" pitchFamily="34" charset="0"/>
              <a:cs typeface="Arial" panose="020B0604020202020204" pitchFamily="34" charset="0"/>
            </a:endParaRPr>
          </a:p>
          <a:p>
            <a:pPr algn="ctr">
              <a:lnSpc>
                <a:spcPct val="107000"/>
              </a:lnSpc>
              <a:spcAft>
                <a:spcPts val="0"/>
              </a:spcAft>
            </a:pPr>
            <a:r>
              <a:rPr lang="en-US" sz="900" b="1">
                <a:effectLst/>
                <a:latin typeface="Arial" panose="020B0604020202020204" pitchFamily="34" charset="0"/>
                <a:ea typeface="Times New Roman" panose="02020603050405020304" pitchFamily="18" charset="0"/>
                <a:cs typeface="Arial" panose="020B0604020202020204" pitchFamily="34" charset="0"/>
              </a:rPr>
              <a:t>Solution</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Misalignment between RGB &amp; Thermal</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Co-registration &amp; resampling</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Poor segmentation of natural areas</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Focused on object-level stats, not pixel</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LST calibration complexity</a:t>
            </a:r>
            <a:endParaRPr lang="en-US" sz="1100">
              <a:effectLst/>
              <a:ea typeface="Calibri" panose="020F0502020204030204" pitchFamily="34" charset="0"/>
              <a:cs typeface="Arial" panose="020B0604020202020204" pitchFamily="34" charset="0"/>
            </a:endParaRPr>
          </a:p>
          <a:p>
            <a:pPr>
              <a:lnSpc>
                <a:spcPct val="107000"/>
              </a:lnSpc>
              <a:spcAft>
                <a:spcPts val="0"/>
              </a:spcAft>
            </a:pPr>
            <a:r>
              <a:rPr lang="en-US" sz="900">
                <a:effectLst/>
                <a:latin typeface="Arial" panose="020B0604020202020204" pitchFamily="34" charset="0"/>
                <a:ea typeface="Times New Roman" panose="02020603050405020304" pitchFamily="18" charset="0"/>
                <a:cs typeface="Arial" panose="020B0604020202020204" pitchFamily="34" charset="0"/>
              </a:rPr>
              <a:t>Mono-window algorithm + metadata</a:t>
            </a:r>
            <a:endParaRPr lang="en-US" sz="1100">
              <a:effectLst/>
              <a:ea typeface="Calibri" panose="020F0502020204030204" pitchFamily="34" charset="0"/>
              <a:cs typeface="Arial" panose="020B0604020202020204" pitchFamily="34" charset="0"/>
            </a:endParaRPr>
          </a:p>
          <a:p>
            <a:pPr>
              <a:lnSpc>
                <a:spcPct val="107000"/>
              </a:lnSpc>
              <a:spcAft>
                <a:spcPts val="800"/>
              </a:spcAft>
            </a:pPr>
            <a:r>
              <a:rPr lang="en-US" sz="900">
                <a:effectLst/>
                <a:latin typeface="Arial" panose="020B0604020202020204" pitchFamily="34" charset="0"/>
                <a:ea typeface="Calibri" panose="020F0502020204030204" pitchFamily="34" charset="0"/>
                <a:cs typeface="Arial" panose="020B0604020202020204" pitchFamily="34" charset="0"/>
              </a:rPr>
              <a:t> </a:t>
            </a:r>
            <a:endParaRPr lang="en-US" sz="1100">
              <a:effectLst/>
              <a:ea typeface="Calibri" panose="020F0502020204030204" pitchFamily="34" charset="0"/>
              <a:cs typeface="Arial" panose="020B0604020202020204" pitchFamily="34" charset="0"/>
            </a:endParaRPr>
          </a:p>
        </p:txBody>
      </p:sp>
      <p:sp>
        <p:nvSpPr>
          <p:cNvPr id="21" name="מלבן 20"/>
          <p:cNvSpPr/>
          <p:nvPr/>
        </p:nvSpPr>
        <p:spPr>
          <a:xfrm>
            <a:off x="9464040" y="4065085"/>
            <a:ext cx="1280160" cy="2783298"/>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dirty="0">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dirty="0">
                <a:effectLst/>
                <a:latin typeface="Arial" panose="020B0604020202020204" pitchFamily="34" charset="0"/>
                <a:ea typeface="Times New Roman" panose="02020603050405020304" pitchFamily="18" charset="0"/>
              </a:rPr>
              <a:t> 9. EVALUATION METRICS</a:t>
            </a:r>
            <a:endParaRPr lang="en-US" sz="1350" b="1" dirty="0">
              <a:effectLst/>
              <a:latin typeface="Times New Roman" panose="02020603050405020304" pitchFamily="18" charset="0"/>
              <a:ea typeface="Times New Roman" panose="02020603050405020304" pitchFamily="18" charset="0"/>
            </a:endParaRPr>
          </a:p>
          <a:p>
            <a:r>
              <a:rPr lang="en-US" sz="900" b="1" dirty="0">
                <a:effectLst/>
                <a:latin typeface="Arial" panose="020B0604020202020204" pitchFamily="34" charset="0"/>
                <a:ea typeface="Times New Roman" panose="02020603050405020304" pitchFamily="18" charset="0"/>
              </a:rPr>
              <a:t>Segmentation Accuracy:</a:t>
            </a:r>
            <a:r>
              <a:rPr lang="en-US" sz="900" dirty="0">
                <a:effectLst/>
                <a:latin typeface="Arial" panose="020B0604020202020204" pitchFamily="34" charset="0"/>
                <a:ea typeface="Times New Roman" panose="02020603050405020304" pitchFamily="18" charset="0"/>
              </a:rPr>
              <a:t/>
            </a:r>
            <a:br>
              <a:rPr lang="en-US" sz="900" dirty="0">
                <a:effectLst/>
                <a:latin typeface="Arial" panose="020B0604020202020204" pitchFamily="34" charset="0"/>
                <a:ea typeface="Times New Roman" panose="02020603050405020304" pitchFamily="18" charset="0"/>
              </a:rPr>
            </a:br>
            <a:r>
              <a:rPr lang="en-US" sz="900" dirty="0">
                <a:effectLst/>
                <a:latin typeface="Arial" panose="020B0604020202020204" pitchFamily="34" charset="0"/>
                <a:ea typeface="Times New Roman" panose="02020603050405020304" pitchFamily="18" charset="0"/>
              </a:rPr>
              <a:t>Buildings IoU: 0.82, Dice: 0.90</a:t>
            </a:r>
            <a:br>
              <a:rPr lang="en-US" sz="900" dirty="0">
                <a:effectLst/>
                <a:latin typeface="Arial" panose="020B0604020202020204" pitchFamily="34" charset="0"/>
                <a:ea typeface="Times New Roman" panose="02020603050405020304" pitchFamily="18" charset="0"/>
              </a:rPr>
            </a:br>
            <a:r>
              <a:rPr lang="en-US" sz="900" dirty="0">
                <a:effectLst/>
                <a:latin typeface="Arial" panose="020B0604020202020204" pitchFamily="34" charset="0"/>
                <a:ea typeface="Times New Roman" panose="02020603050405020304" pitchFamily="18" charset="0"/>
              </a:rPr>
              <a:t>Vegetation IoU: 0.85, Dice: 0.92</a:t>
            </a:r>
            <a:br>
              <a:rPr lang="en-US" sz="900" dirty="0">
                <a:effectLst/>
                <a:latin typeface="Arial" panose="020B0604020202020204" pitchFamily="34" charset="0"/>
                <a:ea typeface="Times New Roman" panose="02020603050405020304" pitchFamily="18" charset="0"/>
              </a:rPr>
            </a:br>
            <a:r>
              <a:rPr lang="en-US" sz="900" b="1" dirty="0">
                <a:effectLst/>
                <a:latin typeface="Arial" panose="020B0604020202020204" pitchFamily="34" charset="0"/>
                <a:ea typeface="Times New Roman" panose="02020603050405020304" pitchFamily="18" charset="0"/>
              </a:rPr>
              <a:t>LST Error (vs. ground truth):</a:t>
            </a:r>
            <a:r>
              <a:rPr lang="en-US" sz="900" dirty="0">
                <a:effectLst/>
                <a:latin typeface="Arial" panose="020B0604020202020204" pitchFamily="34" charset="0"/>
                <a:ea typeface="Times New Roman" panose="02020603050405020304" pitchFamily="18" charset="0"/>
              </a:rPr>
              <a:t/>
            </a:r>
            <a:br>
              <a:rPr lang="en-US" sz="900" dirty="0">
                <a:effectLst/>
                <a:latin typeface="Arial" panose="020B0604020202020204" pitchFamily="34" charset="0"/>
                <a:ea typeface="Times New Roman" panose="02020603050405020304" pitchFamily="18" charset="0"/>
              </a:rPr>
            </a:br>
            <a:r>
              <a:rPr lang="en-US" sz="900" dirty="0">
                <a:effectLst/>
                <a:latin typeface="Arial" panose="020B0604020202020204" pitchFamily="34" charset="0"/>
                <a:ea typeface="Times New Roman" panose="02020603050405020304" pitchFamily="18" charset="0"/>
              </a:rPr>
              <a:t>Tel Aviv: 33.6°C (error: 0.8°C)</a:t>
            </a:r>
            <a:br>
              <a:rPr lang="en-US" sz="900" dirty="0">
                <a:effectLst/>
                <a:latin typeface="Arial" panose="020B0604020202020204" pitchFamily="34" charset="0"/>
                <a:ea typeface="Times New Roman" panose="02020603050405020304" pitchFamily="18" charset="0"/>
              </a:rPr>
            </a:br>
            <a:r>
              <a:rPr lang="en-US" sz="900" dirty="0">
                <a:effectLst/>
                <a:latin typeface="Arial" panose="020B0604020202020204" pitchFamily="34" charset="0"/>
                <a:ea typeface="Times New Roman" panose="02020603050405020304" pitchFamily="18" charset="0"/>
              </a:rPr>
              <a:t>Haifa: 31.2°C (error: 0.6°C)</a:t>
            </a:r>
            <a:endParaRPr lang="en-US" sz="1200" dirty="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dirty="0">
                <a:effectLst/>
                <a:latin typeface="Arial" panose="020B0604020202020204" pitchFamily="34" charset="0"/>
                <a:ea typeface="Calibri" panose="020F0502020204030204" pitchFamily="34" charset="0"/>
                <a:cs typeface="Arial" panose="020B0604020202020204" pitchFamily="34" charset="0"/>
              </a:rPr>
              <a:t> </a:t>
            </a:r>
            <a:endParaRPr lang="en-US" sz="1100" dirty="0">
              <a:effectLst/>
              <a:ea typeface="Calibri" panose="020F0502020204030204" pitchFamily="34" charset="0"/>
              <a:cs typeface="Arial" panose="020B0604020202020204" pitchFamily="34" charset="0"/>
            </a:endParaRPr>
          </a:p>
        </p:txBody>
      </p:sp>
      <p:sp>
        <p:nvSpPr>
          <p:cNvPr id="22" name="מלבן 21"/>
          <p:cNvSpPr/>
          <p:nvPr/>
        </p:nvSpPr>
        <p:spPr>
          <a:xfrm>
            <a:off x="6324600" y="3164296"/>
            <a:ext cx="2529840" cy="900287"/>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a:effectLst/>
                <a:latin typeface="Arial" panose="020B0604020202020204" pitchFamily="34" charset="0"/>
                <a:ea typeface="Times New Roman" panose="02020603050405020304" pitchFamily="18" charset="0"/>
              </a:rPr>
              <a:t> 10. DEMO WORKFLOW </a:t>
            </a:r>
            <a:endParaRPr lang="en-US" sz="1350" b="1">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a:effectLst/>
                <a:latin typeface="Arial" panose="020B0604020202020204" pitchFamily="34" charset="0"/>
                <a:ea typeface="Times New Roman" panose="02020603050405020304" pitchFamily="18" charset="0"/>
              </a:rPr>
              <a:t>Upload satellite RGB, TIR, and metadata</a:t>
            </a:r>
            <a:endParaRPr lang="en-US" sz="120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a:effectLst/>
                <a:latin typeface="Arial" panose="020B0604020202020204" pitchFamily="34" charset="0"/>
                <a:ea typeface="Times New Roman" panose="02020603050405020304" pitchFamily="18" charset="0"/>
              </a:rPr>
              <a:t>Segment objects with SegFormer</a:t>
            </a:r>
            <a:endParaRPr lang="en-US" sz="120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a:effectLst/>
                <a:latin typeface="Arial" panose="020B0604020202020204" pitchFamily="34" charset="0"/>
                <a:ea typeface="Times New Roman" panose="02020603050405020304" pitchFamily="18" charset="0"/>
              </a:rPr>
              <a:t>Compute temperature per object</a:t>
            </a:r>
            <a:endParaRPr lang="en-US" sz="1200">
              <a:effectLst/>
              <a:latin typeface="Times New Roman" panose="02020603050405020304" pitchFamily="18" charset="0"/>
              <a:ea typeface="Times New Roman" panose="02020603050405020304" pitchFamily="18" charset="0"/>
            </a:endParaRPr>
          </a:p>
          <a:p>
            <a:pPr marL="342900" lvl="0" indent="-342900">
              <a:tabLst>
                <a:tab pos="457200" algn="l"/>
              </a:tabLst>
            </a:pPr>
            <a:r>
              <a:rPr lang="en-US" sz="900">
                <a:effectLst/>
                <a:latin typeface="Arial" panose="020B0604020202020204" pitchFamily="34" charset="0"/>
                <a:ea typeface="Times New Roman" panose="02020603050405020304" pitchFamily="18" charset="0"/>
              </a:rPr>
              <a:t>Export maps and tables</a:t>
            </a:r>
            <a:endParaRPr lang="en-US" sz="120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a:effectLst/>
                <a:latin typeface="Arial" panose="020B0604020202020204" pitchFamily="34" charset="0"/>
                <a:ea typeface="Calibri" panose="020F0502020204030204" pitchFamily="34" charset="0"/>
                <a:cs typeface="Arial" panose="020B0604020202020204" pitchFamily="34" charset="0"/>
              </a:rPr>
              <a:t> </a:t>
            </a:r>
            <a:endParaRPr lang="en-US" sz="1100">
              <a:effectLst/>
              <a:ea typeface="Calibri" panose="020F0502020204030204" pitchFamily="34" charset="0"/>
              <a:cs typeface="Arial" panose="020B0604020202020204" pitchFamily="34" charset="0"/>
            </a:endParaRPr>
          </a:p>
        </p:txBody>
      </p:sp>
      <p:sp>
        <p:nvSpPr>
          <p:cNvPr id="23" name="מלבן 22"/>
          <p:cNvSpPr/>
          <p:nvPr/>
        </p:nvSpPr>
        <p:spPr>
          <a:xfrm>
            <a:off x="8854441" y="1899375"/>
            <a:ext cx="1889760" cy="1284658"/>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a:effectLst/>
                <a:latin typeface="Arial" panose="020B0604020202020204" pitchFamily="34" charset="0"/>
                <a:ea typeface="Times New Roman" panose="02020603050405020304" pitchFamily="18" charset="0"/>
              </a:rPr>
              <a:t> 11. CONCLUSION</a:t>
            </a:r>
            <a:endParaRPr lang="en-US" sz="1350" b="1">
              <a:effectLst/>
              <a:latin typeface="Times New Roman" panose="02020603050405020304" pitchFamily="18" charset="0"/>
              <a:ea typeface="Times New Roman" panose="02020603050405020304" pitchFamily="18" charset="0"/>
            </a:endParaRPr>
          </a:p>
          <a:p>
            <a:r>
              <a:rPr lang="en-US" sz="900">
                <a:effectLst/>
                <a:latin typeface="Arial" panose="020B0604020202020204" pitchFamily="34" charset="0"/>
                <a:ea typeface="Times New Roman" panose="02020603050405020304" pitchFamily="18" charset="0"/>
              </a:rPr>
              <a:t>The system successfully links </a:t>
            </a:r>
            <a:r>
              <a:rPr lang="en-US" sz="900" b="1">
                <a:effectLst/>
                <a:latin typeface="Arial" panose="020B0604020202020204" pitchFamily="34" charset="0"/>
                <a:ea typeface="Times New Roman" panose="02020603050405020304" pitchFamily="18" charset="0"/>
              </a:rPr>
              <a:t>land cover types</a:t>
            </a:r>
            <a:r>
              <a:rPr lang="en-US" sz="900">
                <a:effectLst/>
                <a:latin typeface="Arial" panose="020B0604020202020204" pitchFamily="34" charset="0"/>
                <a:ea typeface="Times New Roman" panose="02020603050405020304" pitchFamily="18" charset="0"/>
              </a:rPr>
              <a:t> to </a:t>
            </a:r>
            <a:r>
              <a:rPr lang="en-US" sz="900" b="1">
                <a:effectLst/>
                <a:latin typeface="Arial" panose="020B0604020202020204" pitchFamily="34" charset="0"/>
                <a:ea typeface="Times New Roman" panose="02020603050405020304" pitchFamily="18" charset="0"/>
              </a:rPr>
              <a:t>surface temperatures</a:t>
            </a:r>
            <a:r>
              <a:rPr lang="en-US" sz="900">
                <a:effectLst/>
                <a:latin typeface="Arial" panose="020B0604020202020204" pitchFamily="34" charset="0"/>
                <a:ea typeface="Times New Roman" panose="02020603050405020304" pitchFamily="18" charset="0"/>
              </a:rPr>
              <a:t> using satellite data and deep learning. It improves urban heat mapping accuracy and provides actionable insights for planners.</a:t>
            </a:r>
            <a:endParaRPr lang="en-US" sz="120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a:effectLst/>
                <a:latin typeface="Arial" panose="020B0604020202020204" pitchFamily="34" charset="0"/>
                <a:ea typeface="Calibri" panose="020F0502020204030204" pitchFamily="34" charset="0"/>
                <a:cs typeface="Arial" panose="020B0604020202020204" pitchFamily="34" charset="0"/>
              </a:rPr>
              <a:t> </a:t>
            </a:r>
            <a:endParaRPr lang="en-US" sz="1100">
              <a:effectLst/>
              <a:ea typeface="Calibri" panose="020F0502020204030204" pitchFamily="34" charset="0"/>
              <a:cs typeface="Arial" panose="020B0604020202020204" pitchFamily="34" charset="0"/>
            </a:endParaRPr>
          </a:p>
        </p:txBody>
      </p:sp>
      <p:sp>
        <p:nvSpPr>
          <p:cNvPr id="24" name="מלבן 23"/>
          <p:cNvSpPr/>
          <p:nvPr/>
        </p:nvSpPr>
        <p:spPr>
          <a:xfrm>
            <a:off x="8854440" y="3193651"/>
            <a:ext cx="2971800" cy="861818"/>
          </a:xfrm>
          <a:prstGeom prst="rect">
            <a:avLst/>
          </a:prstGeom>
        </p:spPr>
        <p:style>
          <a:lnRef idx="2">
            <a:schemeClr val="accent5"/>
          </a:lnRef>
          <a:fillRef idx="1003">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900" b="1">
                <a:effectLst/>
                <a:latin typeface="Segoe UI Symbol" panose="020B0502040204020203" pitchFamily="34" charset="0"/>
                <a:ea typeface="Times New Roman" panose="02020603050405020304" pitchFamily="18" charset="0"/>
                <a:cs typeface="Segoe UI Symbol" panose="020B0502040204020203" pitchFamily="34" charset="0"/>
              </a:rPr>
              <a:t>🔹</a:t>
            </a:r>
            <a:r>
              <a:rPr lang="en-US" sz="900" b="1">
                <a:effectLst/>
                <a:latin typeface="Arial" panose="020B0604020202020204" pitchFamily="34" charset="0"/>
                <a:ea typeface="Times New Roman" panose="02020603050405020304" pitchFamily="18" charset="0"/>
              </a:rPr>
              <a:t> 12. FUTURE WORK</a:t>
            </a:r>
            <a:endParaRPr lang="en-US" sz="1350" b="1">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a:effectLst/>
                <a:latin typeface="Arial" panose="020B0604020202020204" pitchFamily="34" charset="0"/>
                <a:ea typeface="Times New Roman" panose="02020603050405020304" pitchFamily="18" charset="0"/>
              </a:rPr>
              <a:t>Add real-time satellite feed integration</a:t>
            </a:r>
            <a:endParaRPr lang="en-US" sz="120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a:effectLst/>
                <a:latin typeface="Arial" panose="020B0604020202020204" pitchFamily="34" charset="0"/>
                <a:ea typeface="Times New Roman" panose="02020603050405020304" pitchFamily="18" charset="0"/>
              </a:rPr>
              <a:t>Support higher-res data (e.g., Sentinel-2 + LST)</a:t>
            </a:r>
            <a:endParaRPr lang="en-US" sz="1200">
              <a:effectLst/>
              <a:latin typeface="Times New Roman" panose="02020603050405020304" pitchFamily="18" charset="0"/>
              <a:ea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sz="900">
                <a:effectLst/>
                <a:latin typeface="Arial" panose="020B0604020202020204" pitchFamily="34" charset="0"/>
                <a:ea typeface="Times New Roman" panose="02020603050405020304" pitchFamily="18" charset="0"/>
              </a:rPr>
              <a:t>Integrate with weather forecasting models</a:t>
            </a:r>
            <a:endParaRPr lang="en-US" sz="1200">
              <a:effectLst/>
              <a:latin typeface="Times New Roman" panose="02020603050405020304" pitchFamily="18" charset="0"/>
              <a:ea typeface="Times New Roman" panose="02020603050405020304" pitchFamily="18" charset="0"/>
            </a:endParaRPr>
          </a:p>
          <a:p>
            <a:pPr>
              <a:lnSpc>
                <a:spcPct val="107000"/>
              </a:lnSpc>
              <a:spcAft>
                <a:spcPts val="800"/>
              </a:spcAft>
            </a:pPr>
            <a:r>
              <a:rPr lang="en-US" sz="900">
                <a:effectLst/>
                <a:latin typeface="Arial" panose="020B0604020202020204" pitchFamily="34" charset="0"/>
                <a:ea typeface="Calibri" panose="020F0502020204030204" pitchFamily="34" charset="0"/>
                <a:cs typeface="Arial" panose="020B0604020202020204" pitchFamily="34" charset="0"/>
              </a:rPr>
              <a:t> </a:t>
            </a:r>
            <a:endParaRPr lang="en-US" sz="1100">
              <a:effectLst/>
              <a:ea typeface="Calibri" panose="020F0502020204030204" pitchFamily="34" charset="0"/>
              <a:cs typeface="Arial" panose="020B0604020202020204" pitchFamily="34" charset="0"/>
            </a:endParaRPr>
          </a:p>
        </p:txBody>
      </p:sp>
      <p:pic>
        <p:nvPicPr>
          <p:cNvPr id="25" name="תמונה 24"/>
          <p:cNvPicPr>
            <a:picLocks noChangeAspect="1"/>
          </p:cNvPicPr>
          <p:nvPr/>
        </p:nvPicPr>
        <p:blipFill>
          <a:blip r:embed="rId7"/>
          <a:stretch>
            <a:fillRect/>
          </a:stretch>
        </p:blipFill>
        <p:spPr>
          <a:xfrm>
            <a:off x="7734300" y="0"/>
            <a:ext cx="4457700" cy="1891859"/>
          </a:xfrm>
          <a:prstGeom prst="rect">
            <a:avLst/>
          </a:prstGeom>
        </p:spPr>
      </p:pic>
    </p:spTree>
    <p:extLst>
      <p:ext uri="{BB962C8B-B14F-4D97-AF65-F5344CB8AC3E}">
        <p14:creationId xmlns:p14="http://schemas.microsoft.com/office/powerpoint/2010/main" val="3468268610"/>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TotalTime>
  <Words>421</Words>
  <Application>Microsoft Office PowerPoint</Application>
  <PresentationFormat>מסך רחב</PresentationFormat>
  <Paragraphs>63</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vt:i4>
      </vt:variant>
    </vt:vector>
  </HeadingPairs>
  <TitlesOfParts>
    <vt:vector size="8" baseType="lpstr">
      <vt:lpstr>Arial</vt:lpstr>
      <vt:lpstr>Calibri</vt:lpstr>
      <vt:lpstr>Calibri Light</vt:lpstr>
      <vt:lpstr>Segoe UI Symbol</vt:lpstr>
      <vt:lpstr>Symbol</vt:lpstr>
      <vt:lpstr>Times New Roman</vt:lpstr>
      <vt:lpstr>ערכת נושא Office</vt:lpstr>
      <vt:lpstr>מצגת של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חשבון Microsoft</dc:creator>
  <cp:lastModifiedBy>חשבון Microsoft</cp:lastModifiedBy>
  <cp:revision>6</cp:revision>
  <dcterms:created xsi:type="dcterms:W3CDTF">2026-01-23T15:37:30Z</dcterms:created>
  <dcterms:modified xsi:type="dcterms:W3CDTF">2026-01-23T19:44:18Z</dcterms:modified>
</cp:coreProperties>
</file>